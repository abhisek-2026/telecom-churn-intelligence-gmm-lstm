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8" r:id="rId4"/>
    <p:sldId id="276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624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7705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942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8274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8949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52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879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4652322-8554-D6AE-D21C-7426163A69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9483" y="6480120"/>
            <a:ext cx="837020" cy="365125"/>
          </a:xfrm>
          <a:prstGeom prst="rect">
            <a:avLst/>
          </a:prstGeom>
        </p:spPr>
        <p:txBody>
          <a:bodyPr anchor="ctr" anchorCtr="1"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3-Jul-25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B1943EF-F097-9ACB-D031-9BC10049C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94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1A849-26BD-EE81-8C3A-9D8481BD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5104" y="6482033"/>
            <a:ext cx="471081" cy="363211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05DEE9B-F056-4957-9F1A-4D9F90B508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3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95CCE-7F96-C717-6268-CA655BD1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C4B4F-95DE-4975-A1F8-3423956CB12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BE538-A547-1424-5E4C-17171071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D07C7-67D6-A04A-4E1A-996B9B5B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1D16C-910A-4E66-824D-4F468EB13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1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603200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xueweihan/p/15183406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787A08-D781-E554-F9F6-EB2B9317A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042416"/>
            <a:ext cx="12192000" cy="58155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8DCE93-02AE-024D-5175-10A33B6EE903}"/>
              </a:ext>
            </a:extLst>
          </p:cNvPr>
          <p:cNvSpPr/>
          <p:nvPr/>
        </p:nvSpPr>
        <p:spPr>
          <a:xfrm>
            <a:off x="5029200" y="4777609"/>
            <a:ext cx="7357937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Analysis using Machine Learning</a:t>
            </a:r>
          </a:p>
          <a:p>
            <a:pPr algn="ctr"/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</a:p>
          <a:p>
            <a:pPr algn="ctr"/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</a:t>
            </a:r>
            <a:endParaRPr lang="en-US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B3BA9-6F62-E4A9-7A77-2C6C55AEBB9D}"/>
              </a:ext>
            </a:extLst>
          </p:cNvPr>
          <p:cNvSpPr txBox="1"/>
          <p:nvPr/>
        </p:nvSpPr>
        <p:spPr>
          <a:xfrm>
            <a:off x="10460736" y="6473952"/>
            <a:ext cx="2231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-Model Created by Abhisek De</a:t>
            </a:r>
          </a:p>
        </p:txBody>
      </p:sp>
    </p:spTree>
    <p:extLst>
      <p:ext uri="{BB962C8B-B14F-4D97-AF65-F5344CB8AC3E}">
        <p14:creationId xmlns:p14="http://schemas.microsoft.com/office/powerpoint/2010/main" val="661892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9BCA-B22B-34A8-938F-4BA53F3B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6BFB-2955-4D7F-1ECE-A265EE00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36167"/>
            <a:ext cx="11360800" cy="763600"/>
          </a:xfrm>
        </p:spPr>
        <p:txBody>
          <a:bodyPr/>
          <a:lstStyle/>
          <a:p>
            <a:r>
              <a:rPr lang="en-US" dirty="0"/>
              <a:t>Churn Risk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89CF7-D6BC-D61E-3022-2E6CE1E92306}"/>
              </a:ext>
            </a:extLst>
          </p:cNvPr>
          <p:cNvSpPr txBox="1"/>
          <p:nvPr/>
        </p:nvSpPr>
        <p:spPr>
          <a:xfrm>
            <a:off x="137160" y="1120676"/>
            <a:ext cx="110244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>
              <a:buNone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high-risk churn customers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combining:</a:t>
            </a:r>
          </a:p>
          <a:p>
            <a:pPr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 churn behavior patterns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(probability of churn)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churn magnitude prediction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(how severe churn may be)</a:t>
            </a:r>
          </a:p>
          <a:p>
            <a:pPr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hybrid approach ensures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warning + impact estimation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enabling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retention actions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48B03-96B9-7BDC-96CA-B8A51AE77260}"/>
              </a:ext>
            </a:extLst>
          </p:cNvPr>
          <p:cNvSpPr txBox="1"/>
          <p:nvPr/>
        </p:nvSpPr>
        <p:spPr>
          <a:xfrm>
            <a:off x="137160" y="4079992"/>
            <a:ext cx="609447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What we did</a:t>
            </a:r>
          </a:p>
          <a:p>
            <a:pPr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Python libraries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processing (Pandas, NumPy)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modeling (Gaussian Mixture 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(LSTM – Long Short-Term Memory)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  <a:p>
            <a:pPr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a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scalable, production-ready AI framework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both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 discovery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forecasting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CD3CC-C516-A0EF-A401-2E94F83DBF89}"/>
              </a:ext>
            </a:extLst>
          </p:cNvPr>
          <p:cNvSpPr txBox="1"/>
          <p:nvPr/>
        </p:nvSpPr>
        <p:spPr>
          <a:xfrm>
            <a:off x="137160" y="3589118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Technology &amp; Framework Setup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13478-9958-8236-86B5-B2686192E13F}"/>
              </a:ext>
            </a:extLst>
          </p:cNvPr>
          <p:cNvSpPr txBox="1"/>
          <p:nvPr/>
        </p:nvSpPr>
        <p:spPr>
          <a:xfrm>
            <a:off x="7337364" y="1361635"/>
            <a:ext cx="60976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Data Ingestion</a:t>
            </a:r>
          </a:p>
          <a:p>
            <a:pPr>
              <a:buNone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did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monthly churn data (Mar’25 – Feb’25)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churn history into a structured matrix</a:t>
            </a: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Establishes a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clean, chronological view of churn behavior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Prepares data for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consumption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624C5-F1DB-65A6-38B6-246EE390A02D}"/>
              </a:ext>
            </a:extLst>
          </p:cNvPr>
          <p:cNvSpPr txBox="1"/>
          <p:nvPr/>
        </p:nvSpPr>
        <p:spPr>
          <a:xfrm>
            <a:off x="7401372" y="3815033"/>
            <a:ext cx="60976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Data Normalization</a:t>
            </a:r>
          </a:p>
          <a:p>
            <a:pPr>
              <a:buNone/>
            </a:pP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did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churn values using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z-score normalization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Prevents models from being biased by scale differences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stability and convergence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Value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accurate and reliable predictions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127EA8-203D-5785-14BC-002B209288AD}"/>
              </a:ext>
            </a:extLst>
          </p:cNvPr>
          <p:cNvCxnSpPr/>
          <p:nvPr/>
        </p:nvCxnSpPr>
        <p:spPr>
          <a:xfrm>
            <a:off x="6748272" y="1120676"/>
            <a:ext cx="0" cy="5618452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029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EF01-5D19-6E89-48A1-4522CB8A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05" y="156045"/>
            <a:ext cx="11360800" cy="763600"/>
          </a:xfrm>
        </p:spPr>
        <p:txBody>
          <a:bodyPr/>
          <a:lstStyle/>
          <a:p>
            <a:r>
              <a:rPr lang="en-US" dirty="0"/>
              <a:t>Reproducibility &amp; Governance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4AEEE7-49E3-1F47-1C61-5785C9766AE5}"/>
              </a:ext>
            </a:extLst>
          </p:cNvPr>
          <p:cNvSpPr txBox="1"/>
          <p:nvPr/>
        </p:nvSpPr>
        <p:spPr>
          <a:xfrm>
            <a:off x="0" y="1120676"/>
            <a:ext cx="6097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Churn Probability Estimation (EM / GMM Model)</a:t>
            </a:r>
          </a:p>
          <a:p>
            <a:pPr>
              <a:buNone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Mixture Model (GMM)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segment customers into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churn behavior clusters (Lowest 25%- Stable or Low Churn, 25%-50%- Moderate Churn, 50%-75%- Rising Churn, Top 25%- High Risk Churn)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the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highest-risk cluster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average churn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Assigned each site a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probability of belonging to this high-risk churn cluster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is important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gives us a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 churn probability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just a binary flag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similar churn patterns are grouped together</a:t>
            </a: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new metric: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churn_probability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Likelihood of being a high-risk churn customer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28E21-6C6B-2EFD-A37B-E848E49B2CD6}"/>
              </a:ext>
            </a:extLst>
          </p:cNvPr>
          <p:cNvSpPr txBox="1"/>
          <p:nvPr/>
        </p:nvSpPr>
        <p:spPr>
          <a:xfrm>
            <a:off x="0" y="3814697"/>
            <a:ext cx="6097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5: Churn Magnitude Forecasting (LSTM Model)</a:t>
            </a:r>
          </a:p>
          <a:p>
            <a:pPr>
              <a:buNone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neural networks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learn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month-over-month churn trends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the model to predict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next-month churn magnitude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LSTM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LSTM is designed for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data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dependencies</a:t>
            </a: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Meaning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just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“Will churn happen?”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“How big will the churn impact be?”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244EF-00B2-E39C-A57D-24BA518C3169}"/>
              </a:ext>
            </a:extLst>
          </p:cNvPr>
          <p:cNvSpPr txBox="1"/>
          <p:nvPr/>
        </p:nvSpPr>
        <p:spPr>
          <a:xfrm>
            <a:off x="6842793" y="1120676"/>
            <a:ext cx="60976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6: Model Performance Evaluation</a:t>
            </a:r>
          </a:p>
          <a:p>
            <a:pPr>
              <a:buNone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 Used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RMSE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Prediction error magnitude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Average absolute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 Score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Model reliability (explained variance)</a:t>
            </a: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matters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predictions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Statistically sound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Business-usable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 before deployment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00F70-9AC6-27D1-9413-0E0DBDAF875E}"/>
              </a:ext>
            </a:extLst>
          </p:cNvPr>
          <p:cNvSpPr txBox="1"/>
          <p:nvPr/>
        </p:nvSpPr>
        <p:spPr>
          <a:xfrm>
            <a:off x="6842793" y="3214533"/>
            <a:ext cx="609765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2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7: Future Churn Prediction</a:t>
            </a:r>
          </a:p>
          <a:p>
            <a:pPr>
              <a:buNone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did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the trained LSTM model to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sites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next-month churn volume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metric: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predicted_next_churn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represents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churn impact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customer.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3A5834A-6B2A-E275-86CA-F682C298D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26024"/>
              </p:ext>
            </p:extLst>
          </p:nvPr>
        </p:nvGraphicFramePr>
        <p:xfrm>
          <a:off x="6842793" y="5529688"/>
          <a:ext cx="6216848" cy="1097280"/>
        </p:xfrm>
        <a:graphic>
          <a:graphicData uri="http://schemas.openxmlformats.org/drawingml/2006/table">
            <a:tbl>
              <a:tblPr/>
              <a:tblGrid>
                <a:gridCol w="3108424">
                  <a:extLst>
                    <a:ext uri="{9D8B030D-6E8A-4147-A177-3AD203B41FA5}">
                      <a16:colId xmlns:a16="http://schemas.microsoft.com/office/drawing/2014/main" val="2214348597"/>
                    </a:ext>
                  </a:extLst>
                </a:gridCol>
                <a:gridCol w="3108424">
                  <a:extLst>
                    <a:ext uri="{9D8B030D-6E8A-4147-A177-3AD203B41FA5}">
                      <a16:colId xmlns:a16="http://schemas.microsoft.com/office/drawing/2014/main" val="3997585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96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83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51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796863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63C591-0062-1897-F3F3-C1C34809860C}"/>
              </a:ext>
            </a:extLst>
          </p:cNvPr>
          <p:cNvCxnSpPr/>
          <p:nvPr/>
        </p:nvCxnSpPr>
        <p:spPr>
          <a:xfrm>
            <a:off x="6281928" y="1120676"/>
            <a:ext cx="0" cy="5618452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25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C5F8-2245-D850-7F39-0FD511E83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1581-3F77-759D-785D-0154DE48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4183"/>
            <a:ext cx="11360800" cy="763600"/>
          </a:xfrm>
        </p:spPr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9962A-34D1-2869-8A0F-F8A51DEC40C7}"/>
              </a:ext>
            </a:extLst>
          </p:cNvPr>
          <p:cNvSpPr txBox="1"/>
          <p:nvPr/>
        </p:nvSpPr>
        <p:spPr>
          <a:xfrm>
            <a:off x="177612" y="1241566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8: Model Transparency &amp; Reporting</a:t>
            </a:r>
          </a:p>
          <a:p>
            <a:pPr>
              <a:buNone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did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Printed all model efficiency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Ensured full traceability of decisions</a:t>
            </a: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management should care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Transparent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“black-box”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 ready for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598C4-23B6-233B-6292-2B183A83FF6C}"/>
              </a:ext>
            </a:extLst>
          </p:cNvPr>
          <p:cNvSpPr txBox="1"/>
          <p:nvPr/>
        </p:nvSpPr>
        <p:spPr>
          <a:xfrm>
            <a:off x="177612" y="4159842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9: Final Output Delivery</a:t>
            </a:r>
          </a:p>
          <a:p>
            <a:pPr>
              <a:buNone/>
            </a:pPr>
            <a:endParaRPr lang="en-US" sz="1200" b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we delivered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file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probability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future churn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risk score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78B98-8A0C-ECEB-C6FC-92FA76F0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837" y="1170983"/>
            <a:ext cx="3359150" cy="3054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828389-1CD5-1EFF-90FC-09F2D56C0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203" y="1488717"/>
            <a:ext cx="6267450" cy="417830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CE4C92-4AEC-7B78-0965-3323C4C978C6}"/>
              </a:ext>
            </a:extLst>
          </p:cNvPr>
          <p:cNvSpPr txBox="1"/>
          <p:nvPr/>
        </p:nvSpPr>
        <p:spPr>
          <a:xfrm>
            <a:off x="6007608" y="1170983"/>
            <a:ext cx="265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Illustration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4AFCD-B342-CBC3-7CFD-59044B89A508}"/>
              </a:ext>
            </a:extLst>
          </p:cNvPr>
          <p:cNvSpPr txBox="1"/>
          <p:nvPr/>
        </p:nvSpPr>
        <p:spPr>
          <a:xfrm>
            <a:off x="177612" y="5842337"/>
            <a:ext cx="609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10: Future Enhancement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traffic and KPI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2 Month ahead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Integrate with 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 Time AI automation</a:t>
            </a:r>
          </a:p>
        </p:txBody>
      </p:sp>
    </p:spTree>
    <p:extLst>
      <p:ext uri="{BB962C8B-B14F-4D97-AF65-F5344CB8AC3E}">
        <p14:creationId xmlns:p14="http://schemas.microsoft.com/office/powerpoint/2010/main" val="2109326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F0500-BCFD-21AE-BB27-768B9F5B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454CD-26E6-35A2-272D-0631CF508B0F}"/>
              </a:ext>
            </a:extLst>
          </p:cNvPr>
          <p:cNvSpPr txBox="1"/>
          <p:nvPr/>
        </p:nvSpPr>
        <p:spPr>
          <a:xfrm>
            <a:off x="3977640" y="2944368"/>
            <a:ext cx="398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irtel Sans Bold" panose="02000000000000000000" pitchFamily="50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3924869"/>
      </p:ext>
    </p:extLst>
  </p:cSld>
  <p:clrMapOvr>
    <a:masterClrMapping/>
  </p:clrMapOvr>
</p:sld>
</file>

<file path=ppt/theme/theme1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5099</TotalTime>
  <Words>563</Words>
  <Application>Microsoft Office PowerPoint</Application>
  <PresentationFormat>Widescreen</PresentationFormat>
  <Paragraphs>121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Airtel Sans Bold</vt:lpstr>
      <vt:lpstr>Arial</vt:lpstr>
      <vt:lpstr>Calibri</vt:lpstr>
      <vt:lpstr>1_Simple Light</vt:lpstr>
      <vt:lpstr>PowerPoint Presentation</vt:lpstr>
      <vt:lpstr>Churn Risk Prediction</vt:lpstr>
      <vt:lpstr>Reproducibility &amp; Governance</vt:lpstr>
      <vt:lpstr>Output</vt:lpstr>
      <vt:lpstr>PowerPoint Presentation</vt:lpstr>
    </vt:vector>
  </TitlesOfParts>
  <Company>Bharti Airtel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Abhisek De</dc:creator>
  <cp:lastModifiedBy>Abhisek De</cp:lastModifiedBy>
  <cp:revision>14</cp:revision>
  <dcterms:created xsi:type="dcterms:W3CDTF">2026-02-02T19:00:51Z</dcterms:created>
  <dcterms:modified xsi:type="dcterms:W3CDTF">2026-03-27T06:57:14Z</dcterms:modified>
</cp:coreProperties>
</file>